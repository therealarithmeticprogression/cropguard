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🌿 CropGuard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A5D6A7"/>
                </a:solidFill>
                <a:latin typeface="Calibri"/>
              </a:defRPr>
            </a:pPr>
            <a:r>
              <a:t>Offline Crop Disease Detection &amp; Risk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6C9"/>
                </a:solidFill>
                <a:latin typeface="Calibri"/>
              </a:defRPr>
            </a:pPr>
            <a:r>
              <a:t>Smart India Hackathon 2026  ·  Internal Round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Team: The Real Arithmetic Progression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CropGuard  |  SIH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🔴  Small and marginal farmers identify diseases only after visible spread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🔴  Expert advice is not always immediately available in rural areas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🔴  Rural connectivity is intermittent — online-only tools fail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🔴  Generic treatment recommendations don't reflect field-specific conditions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🔴  FAO: Plant pests &amp; diseases destroy up to 40% of global crop production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🔴  Annual economic losses exceed USD 220 billion worldwide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CropGuard  |  SIH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📸  Leaf-Image Screening — ONNX model classifies 4 tomato leaf diseases on-device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       ➜ Bacterial Spot, Early Blight, Late Blight, Septoria Leaf Spot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🌡️  Environmental Risk Engine — explainable rule-based scoring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       ➜ Scores temperature, humidity, rainfall, soil moisture &amp; duration patterns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📋  Actionable Guidance — prevention &amp; treatment in 5 languages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       ➜ English, Hindi, Punjabi, Bengali, Tamil — works offline with sync later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📱  Progressive Web App — works on any smartphone browser, installable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CropGuard  |  SIH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1645920" cy="12801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📱 Farmer</a:t>
            </a:r>
            <a:br/>
            <a:r>
              <a:t>Smartphone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1645920" cy="1280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⚛️ React PWA</a:t>
            </a:r>
            <a:br/>
            <a:r>
              <a:t>(Vite)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645920"/>
            <a:ext cx="1828800" cy="10972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🧠 ONNX Runtime</a:t>
            </a:r>
            <a:br/>
            <a:r>
              <a:t>Web/WASM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840480"/>
            <a:ext cx="1828800" cy="1097280"/>
          </a:xfrm>
          <a:prstGeom prst="rect">
            <a:avLst/>
          </a:prstGeom>
          <a:solidFill>
            <a:srgbClr val="78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💾 IndexedDB</a:t>
            </a:r>
            <a:br/>
            <a:r>
              <a:t>Offline 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2743200"/>
            <a:ext cx="164592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🖥️ Django</a:t>
            </a:r>
            <a:br/>
            <a:r>
              <a:t>Backend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0" y="2743200"/>
            <a:ext cx="1645920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📊 Risk Engine</a:t>
            </a:r>
            <a:br/>
            <a:r>
              <a:t>&amp;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161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161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161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161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16161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CropGuard  |  SIH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⚛️  React 19 + React Router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⚡  Vite + vite-plugin-pwa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🧠  ONNX Runtime Web (WASM)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💾  IndexedDB via Dexie &amp; idb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🌐  i18next + react-i18next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🎨  CSS (responsive, mobile-first)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🐍  Django 5.2 + DRF 3.18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🔐  JWT Authentication (SimpleJWT)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🗄️  Relational DB (Django ORM)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📊  Rule-based Risk Engine (Python)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🔗  CORS + REST APIs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📡  Sensor node data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280160"/>
            <a:ext cx="36576" cy="4572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 — User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CropGuard  |  SIH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737360" cy="3200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12121"/>
                </a:solidFill>
                <a:latin typeface="Calibri"/>
              </a:defRPr>
            </a:pPr>
            <a: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5E20"/>
                </a:solidFill>
                <a:latin typeface="Calibri"/>
              </a:defRPr>
            </a:pPr>
            <a: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Farmer photographs</a:t>
            </a:r>
            <a:br/>
            <a:r>
              <a:t>a tomato leaf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828800"/>
            <a:ext cx="1737360" cy="3200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12121"/>
                </a:solidFill>
                <a:latin typeface="Calibri"/>
              </a:defRPr>
            </a:pPr>
            <a: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5E20"/>
                </a:solidFill>
                <a:latin typeface="Calibri"/>
              </a:defRPr>
            </a:pPr>
            <a: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004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Image resized to</a:t>
            </a:r>
            <a:br/>
            <a:r>
              <a:t>224×224 RGB tensor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1737360" cy="3200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12121"/>
                </a:solidFill>
                <a:latin typeface="Calibri"/>
              </a:defRPr>
            </a:pPr>
            <a:r>
              <a:t>3️⃣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5E20"/>
                </a:solidFill>
                <a:latin typeface="Calibri"/>
              </a:defRPr>
            </a:pPr>
            <a:r>
              <a:t>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004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On-device ONNX</a:t>
            </a:r>
            <a:br/>
            <a:r>
              <a:t>inference in browser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828800"/>
            <a:ext cx="1737360" cy="3200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12121"/>
                </a:solidFill>
                <a:latin typeface="Calibri"/>
              </a:defRPr>
            </a:pPr>
            <a:r>
              <a:t>4️⃣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5E20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004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Disease class +</a:t>
            </a:r>
            <a:br/>
            <a:r>
              <a:t>confidence 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1737360" cy="3200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12121"/>
                </a:solidFill>
                <a:latin typeface="Calibri"/>
              </a:defRPr>
            </a:pPr>
            <a:r>
              <a:t>5️⃣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5E20"/>
                </a:solidFill>
                <a:latin typeface="Calibri"/>
              </a:defRPr>
            </a:pPr>
            <a:r>
              <a:t>Guidance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2004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Multilingual treatment</a:t>
            </a:r>
            <a:br/>
            <a:r>
              <a:t>&amp; prevention advice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1828800"/>
            <a:ext cx="1737360" cy="3200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12121"/>
                </a:solidFill>
                <a:latin typeface="Calibri"/>
              </a:defRPr>
            </a:pPr>
            <a:r>
              <a:t>6️⃣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5E20"/>
                </a:solidFill>
                <a:latin typeface="Calibri"/>
              </a:defRPr>
            </a:pPr>
            <a:r>
              <a:t>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320040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When online, sync</a:t>
            </a:r>
            <a:br/>
            <a:r>
              <a:t>records to backend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CropGuard  |  SIH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t>🔌  Offline-First — inference &amp; cached guidance work without internet</a:t>
            </a:r>
          </a:p>
          <a:p>
            <a:pPr>
              <a:spcAft>
                <a:spcPts val="1200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t>🧠  On-Device AI — no image upload needed, private and low-latency</a:t>
            </a:r>
          </a:p>
          <a:p>
            <a:pPr>
              <a:spcAft>
                <a:spcPts val="1200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t>🌍  Multilingual — English, Hindi, Punjabi, Bengali, Tamil</a:t>
            </a:r>
          </a:p>
          <a:p>
            <a:pPr>
              <a:spcAft>
                <a:spcPts val="1200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t>📊  Explainable Risk Scoring — deterministic, inspectable thresholds</a:t>
            </a:r>
          </a:p>
          <a:p>
            <a:pPr>
              <a:spcAft>
                <a:spcPts val="1200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t>📱  PWA — installable, lightweight, works on any modern smartphone</a:t>
            </a:r>
          </a:p>
          <a:p>
            <a:pPr>
              <a:spcAft>
                <a:spcPts val="1200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t>🔄  Sync-Ready — IndexedDB records with client IDs &amp; sync states</a:t>
            </a:r>
          </a:p>
          <a:p>
            <a:pPr>
              <a:spcAft>
                <a:spcPts val="1200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t>🌡️  Sensor Integration — backend models for IoT sensor nodes</a:t>
            </a:r>
          </a:p>
          <a:p>
            <a:pPr>
              <a:spcAft>
                <a:spcPts val="1200"/>
              </a:spcAft>
              <a:defRPr sz="1900">
                <a:solidFill>
                  <a:srgbClr val="212121"/>
                </a:solidFill>
                <a:latin typeface="Calibri"/>
              </a:defRPr>
            </a:pPr>
            <a:r>
              <a:t>🔐  Secure — JWT auth, CORS, HTTPS-ready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Feasibility &amp; 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CropGuard  |  SIH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✅  Uses hardware farmers already have — a smartphone camera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✅  Browser inference avoids server dependency, reduces latency &amp; bandwidth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✅  4-class model with 224×224 input is practical for mobile WASM inference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✅  Rule engine is inspectable &amp; calibratable without large labelled datasets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✅  PWA + IndexedDB + sync API addresses intermittent connectivity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📈  Pilot Viability Gates: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       • Test on geographically &amp; seasonally diverse field images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       • Report per-class precision, recall, F1, calibration, abstention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       • Measure offline latency, sync success rate, farmer comprehension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       • Compare risk thresholds with actual weather &amp; disease observations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Potential Impact &amp;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CropGuard  |  SIH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🌾  40% of global crops lost to pests &amp; diseases annually (FAO)</a:t>
            </a: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💰  Even a 1% reduction → USD 2.2 billion saved globally</a:t>
            </a: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📐  Scenario: 100 pilot farms × 1 hectare each</a:t>
            </a: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       • Tool helps avoid 5% of disease loss → 2% production preserved</a:t>
            </a: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       • = 2 hectare-equivalents of production saved</a:t>
            </a: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🎯  Direct benefits:</a:t>
            </a: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       • Earlier scouting &amp; fewer unnecessary field visits</a:t>
            </a: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       • More targeted expert escalation</a:t>
            </a: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       • Continuity during network outages</a:t>
            </a: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       • Localized multilingual guidance</a:t>
            </a:r>
          </a:p>
          <a:p>
            <a:pPr>
              <a:spcAft>
                <a:spcPts val="6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       • Structured dataset for future agronomic research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Limitations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CropGuard  |  SIH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F00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⚠️  4 classes only — may fail on unseen diseases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⚠️  No validated accuracy report yet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⚠️  Risk thresholds not locally calibrated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⚠️  No sensor firmware included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⚠️  Treatment needs regional authority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🚀  Field dataset &amp; held-out evaluation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🚀  Image quality checks &amp; unknown class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🚀  Validate with ICAR / agri universities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🚀  Sensor firmware &amp; secure transport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🚀  Controlled pilot study</a:t>
            </a:r>
          </a:p>
          <a:p>
            <a:pPr>
              <a:spcAft>
                <a:spcPts val="8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🚀  Encrypted storage &amp; consent workflows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280160"/>
            <a:ext cx="36576" cy="4572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CropGuard  |  SIH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Calibri"/>
              </a:defRPr>
            </a:pPr>
            <a:r>
              <a:t>🌐  crop-guard-bay.vercel.app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16161"/>
                </a:solidFill>
                <a:latin typeface="Calibri"/>
              </a:defRPr>
            </a:pPr>
            <a:r>
              <a:t>Deployed frontend PWA — try capturing a leaf image!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6161"/>
                </a:solidFill>
                <a:latin typeface="Calibri"/>
              </a:defRPr>
            </a:pPr>
            <a:r>
              <a:t>GitHub:  TherealArithmeticProgression/internal_rounds_sih_2026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5D6A7"/>
                </a:solidFill>
                <a:latin typeface="Calibri"/>
              </a:defRPr>
            </a:pPr>
            <a:r>
              <a:t>🌿 CropGuard — Empowering Farmers with AI-Driven Crop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6C9"/>
                </a:solidFill>
                <a:latin typeface="Calibri"/>
              </a:defRPr>
            </a:pPr>
            <a: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